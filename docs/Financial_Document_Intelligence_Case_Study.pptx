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0" d="100"/>
          <a:sy n="80" d="100"/>
        </p:scale>
        <p:origin x="75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443065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5.png"/><Relationship Id="rId7" Type="http://schemas.openxmlformats.org/officeDocument/2006/relationships/image" Target="../media/image18.png"/><Relationship Id="rId12" Type="http://schemas.openxmlformats.org/officeDocument/2006/relationships/image" Target="../media/image2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10.png"/><Relationship Id="rId5" Type="http://schemas.openxmlformats.org/officeDocument/2006/relationships/image" Target="../media/image17.png"/><Relationship Id="rId10" Type="http://schemas.openxmlformats.org/officeDocument/2006/relationships/image" Target="../media/image9.png"/><Relationship Id="rId4" Type="http://schemas.openxmlformats.org/officeDocument/2006/relationships/image" Target="../media/image16.png"/><Relationship Id="rId9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12" Type="http://schemas.openxmlformats.org/officeDocument/2006/relationships/image" Target="../media/image3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11" Type="http://schemas.openxmlformats.org/officeDocument/2006/relationships/image" Target="../media/image30.png"/><Relationship Id="rId5" Type="http://schemas.openxmlformats.org/officeDocument/2006/relationships/image" Target="../media/image24.png"/><Relationship Id="rId10" Type="http://schemas.openxmlformats.org/officeDocument/2006/relationships/image" Target="../media/image29.png"/><Relationship Id="rId4" Type="http://schemas.openxmlformats.org/officeDocument/2006/relationships/image" Target="../media/image23.png"/><Relationship Id="rId9" Type="http://schemas.openxmlformats.org/officeDocument/2006/relationships/image" Target="../media/image2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5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6.png"/><Relationship Id="rId9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32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754880" cy="4754880"/>
          </a:xfrm>
          <a:prstGeom prst="ellipse">
            <a:avLst/>
          </a:prstGeom>
          <a:solidFill>
            <a:srgbClr val="141A4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-1645920" y="4754880"/>
            <a:ext cx="4206240" cy="4206240"/>
          </a:xfrm>
          <a:prstGeom prst="ellipse">
            <a:avLst/>
          </a:prstGeom>
          <a:solidFill>
            <a:srgbClr val="141A45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/home/claude/ppt_build/icons/title_a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914400"/>
            <a:ext cx="1005840" cy="10058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214884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kern="0" spc="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Engineer Internship — Case Study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822960" y="260604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Financial Document Intelligence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822960" y="3520440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Document Extraction, Validation &amp; API Platform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822960" y="4251960"/>
            <a:ext cx="2743200" cy="0"/>
          </a:xfrm>
          <a:prstGeom prst="line">
            <a:avLst/>
          </a:prstGeom>
          <a:noFill/>
          <a:ln w="31750">
            <a:solidFill>
              <a:srgbClr val="0E83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822960" y="448056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Ahammed Nujoom YP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822960" y="489204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3337560" cy="3017520"/>
          </a:xfrm>
          <a:prstGeom prst="roundRect">
            <a:avLst>
              <a:gd name="adj" fmla="val 3636"/>
            </a:avLst>
          </a:prstGeom>
          <a:solidFill>
            <a:srgbClr val="F5F7FC"/>
          </a:solidFill>
          <a:ln/>
          <a:effectLst>
            <a:outerShdw blurRad="101600" dist="38100" dir="5400000" algn="bl" rotWithShape="0">
              <a:srgbClr val="9AA5C7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4" name="Image 0" descr="/home/claude/ppt_build/icons/problem_do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5940" y="1920240"/>
            <a:ext cx="822960" cy="8229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77240" y="297180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Mixed, unstructured formats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822960" y="3566160"/>
            <a:ext cx="2788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Invoices and financial statements arrive as PDF, JPG, or PNG with no consistent layout.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4206240" y="1600200"/>
            <a:ext cx="3337560" cy="3017520"/>
          </a:xfrm>
          <a:prstGeom prst="roundRect">
            <a:avLst>
              <a:gd name="adj" fmla="val 3636"/>
            </a:avLst>
          </a:prstGeom>
          <a:solidFill>
            <a:srgbClr val="F5F7FC"/>
          </a:solidFill>
          <a:ln/>
          <a:effectLst>
            <a:outerShdw blurRad="101600" dist="38100" dir="5400000" algn="bl" rotWithShape="0">
              <a:srgbClr val="9AA5C7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8" name="Image 1" descr="/home/claude/ppt_build/icons/problem_c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63540" y="1920240"/>
            <a:ext cx="822960" cy="8229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434840" y="297180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Slow manual entry</a:t>
            </a:r>
            <a:endParaRPr lang="en-US" sz="1700" dirty="0"/>
          </a:p>
        </p:txBody>
      </p:sp>
      <p:sp>
        <p:nvSpPr>
          <p:cNvPr id="10" name="Text 6"/>
          <p:cNvSpPr/>
          <p:nvPr/>
        </p:nvSpPr>
        <p:spPr>
          <a:xfrm>
            <a:off x="4480560" y="3566160"/>
            <a:ext cx="2788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teams retype figures by hand from every document into their systems.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7863840" y="1600200"/>
            <a:ext cx="3337560" cy="3017520"/>
          </a:xfrm>
          <a:prstGeom prst="roundRect">
            <a:avLst>
              <a:gd name="adj" fmla="val 3636"/>
            </a:avLst>
          </a:prstGeom>
          <a:solidFill>
            <a:srgbClr val="F5F7FC"/>
          </a:solidFill>
          <a:ln/>
          <a:effectLst>
            <a:outerShdw blurRad="101600" dist="38100" dir="5400000" algn="bl" rotWithShape="0">
              <a:srgbClr val="9AA5C7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2" name="Image 2" descr="/home/claude/ppt_build/icons/problem_erro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21140" y="1920240"/>
            <a:ext cx="822960" cy="82296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092440" y="297180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Error-prone &amp; unverified</a:t>
            </a:r>
            <a:endParaRPr lang="en-US" sz="1700" dirty="0"/>
          </a:p>
        </p:txBody>
      </p:sp>
      <p:sp>
        <p:nvSpPr>
          <p:cNvPr id="14" name="Text 9"/>
          <p:cNvSpPr/>
          <p:nvPr/>
        </p:nvSpPr>
        <p:spPr>
          <a:xfrm>
            <a:off x="8138160" y="3566160"/>
            <a:ext cx="2788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entry miss's mistakes  totals, tax, and balances often go unchecked.</a:t>
            </a:r>
            <a:endParaRPr lang="en-US" sz="1250" dirty="0"/>
          </a:p>
        </p:txBody>
      </p:sp>
      <p:sp>
        <p:nvSpPr>
          <p:cNvPr id="15" name="Text 10"/>
          <p:cNvSpPr/>
          <p:nvPr/>
        </p:nvSpPr>
        <p:spPr>
          <a:xfrm>
            <a:off x="548640" y="502920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result: slower closes, higher error risk, and no automatic financial validation.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Document Intelligence</a:t>
            </a:r>
            <a:endParaRPr lang="en-US" sz="900" dirty="0"/>
          </a:p>
        </p:txBody>
      </p:sp>
      <p:sp>
        <p:nvSpPr>
          <p:cNvPr id="17" name="Text 1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Objective</a:t>
            </a:r>
            <a:endParaRPr lang="en-US" sz="3200" dirty="0"/>
          </a:p>
        </p:txBody>
      </p:sp>
      <p:pic>
        <p:nvPicPr>
          <p:cNvPr id="3" name="Image 0" descr="/home/claude/ppt_build/icons/obj_uplo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00200"/>
            <a:ext cx="594360" cy="5943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1536192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Upload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1325880" y="1883664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 financial documents (PDF / JPG / PNG)</a:t>
            </a:r>
            <a:endParaRPr lang="en-US" sz="1200" dirty="0"/>
          </a:p>
        </p:txBody>
      </p:sp>
      <p:pic>
        <p:nvPicPr>
          <p:cNvPr id="6" name="Image 1" descr="/home/claude/ppt_build/icons/obj_valida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1600200"/>
            <a:ext cx="594360" cy="5943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132320" y="1536192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Validate</a:t>
            </a:r>
            <a:endParaRPr lang="en-US" sz="1500" dirty="0"/>
          </a:p>
        </p:txBody>
      </p:sp>
      <p:sp>
        <p:nvSpPr>
          <p:cNvPr id="8" name="Text 4"/>
          <p:cNvSpPr/>
          <p:nvPr/>
        </p:nvSpPr>
        <p:spPr>
          <a:xfrm>
            <a:off x="7132320" y="1883664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file type, integrity, and page limits</a:t>
            </a:r>
            <a:endParaRPr lang="en-US" sz="1200" dirty="0"/>
          </a:p>
        </p:txBody>
      </p:sp>
      <p:pic>
        <p:nvPicPr>
          <p:cNvPr id="9" name="Image 2" descr="/home/claude/ppt_build/icons/obj_oc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2834640"/>
            <a:ext cx="594360" cy="59436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325880" y="2770632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Extract (OCR)</a:t>
            </a:r>
            <a:endParaRPr lang="en-US" sz="1500" dirty="0"/>
          </a:p>
        </p:txBody>
      </p:sp>
      <p:sp>
        <p:nvSpPr>
          <p:cNvPr id="11" name="Text 6"/>
          <p:cNvSpPr/>
          <p:nvPr/>
        </p:nvSpPr>
        <p:spPr>
          <a:xfrm>
            <a:off x="1325880" y="3118104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native or scanned text from every page</a:t>
            </a:r>
            <a:endParaRPr lang="en-US" sz="1200" dirty="0"/>
          </a:p>
        </p:txBody>
      </p:sp>
      <p:pic>
        <p:nvPicPr>
          <p:cNvPr id="12" name="Image 3" descr="/home/claude/ppt_build/icons/obj_ai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5080" y="2834640"/>
            <a:ext cx="594360" cy="59436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132320" y="2770632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Extract (AI)</a:t>
            </a:r>
            <a:endParaRPr lang="en-US" sz="1500" dirty="0"/>
          </a:p>
        </p:txBody>
      </p:sp>
      <p:sp>
        <p:nvSpPr>
          <p:cNvPr id="14" name="Text 8"/>
          <p:cNvSpPr/>
          <p:nvPr/>
        </p:nvSpPr>
        <p:spPr>
          <a:xfrm>
            <a:off x="7132320" y="3118104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structured fields &amp; tables using an LLM</a:t>
            </a:r>
            <a:endParaRPr lang="en-US" sz="1200" dirty="0"/>
          </a:p>
        </p:txBody>
      </p:sp>
      <p:pic>
        <p:nvPicPr>
          <p:cNvPr id="15" name="Image 4" descr="/home/claude/ppt_build/icons/obj_cal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8640" y="4069080"/>
            <a:ext cx="594360" cy="59436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325880" y="4005072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Validate calculations</a:t>
            </a:r>
            <a:endParaRPr lang="en-US" sz="1500" dirty="0"/>
          </a:p>
        </p:txBody>
      </p:sp>
      <p:sp>
        <p:nvSpPr>
          <p:cNvPr id="17" name="Text 10"/>
          <p:cNvSpPr/>
          <p:nvPr/>
        </p:nvSpPr>
        <p:spPr>
          <a:xfrm>
            <a:off x="1325880" y="4352544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totals, balances, and formulas</a:t>
            </a:r>
            <a:endParaRPr lang="en-US" sz="1200" dirty="0"/>
          </a:p>
        </p:txBody>
      </p:sp>
      <p:pic>
        <p:nvPicPr>
          <p:cNvPr id="18" name="Image 5" descr="/home/claude/ppt_build/icons/obj_db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55080" y="4069080"/>
            <a:ext cx="594360" cy="594360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7132320" y="4005072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Store</a:t>
            </a:r>
            <a:endParaRPr lang="en-US" sz="1500" dirty="0"/>
          </a:p>
        </p:txBody>
      </p:sp>
      <p:sp>
        <p:nvSpPr>
          <p:cNvPr id="20" name="Text 12"/>
          <p:cNvSpPr/>
          <p:nvPr/>
        </p:nvSpPr>
        <p:spPr>
          <a:xfrm>
            <a:off x="7132320" y="4352544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 every result for later retrieval</a:t>
            </a:r>
            <a:endParaRPr lang="en-US" sz="1200" dirty="0"/>
          </a:p>
        </p:txBody>
      </p:sp>
      <p:sp>
        <p:nvSpPr>
          <p:cNvPr id="21" name="Text 13"/>
          <p:cNvSpPr/>
          <p:nvPr/>
        </p:nvSpPr>
        <p:spPr>
          <a:xfrm>
            <a:off x="548640" y="598932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0E8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 through both a REST API (with Swagger docs) and a browser dashboard.</a:t>
            </a:r>
            <a:endParaRPr lang="en-US" sz="1300" dirty="0"/>
          </a:p>
        </p:txBody>
      </p:sp>
      <p:sp>
        <p:nvSpPr>
          <p:cNvPr id="22" name="Text 14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Document Intelligence</a:t>
            </a:r>
            <a:endParaRPr lang="en-US" sz="900" dirty="0"/>
          </a:p>
        </p:txBody>
      </p:sp>
      <p:sp>
        <p:nvSpPr>
          <p:cNvPr id="23" name="Text 1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Supported Documents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920240"/>
            <a:ext cx="2606040" cy="3291840"/>
          </a:xfrm>
          <a:prstGeom prst="roundRect">
            <a:avLst>
              <a:gd name="adj" fmla="val 4211"/>
            </a:avLst>
          </a:prstGeom>
          <a:solidFill>
            <a:srgbClr val="1E2761"/>
          </a:solidFill>
          <a:ln/>
          <a:effectLst>
            <a:outerShdw blurRad="101600" dist="38100" dir="5400000" algn="bl" rotWithShape="0">
              <a:srgbClr val="9AA5C7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4" name="Image 0" descr="/home/claude/ppt_build/icons/doc_invoi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7612" y="2286000"/>
            <a:ext cx="768096" cy="76809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329184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Invoice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777240" y="3886200"/>
            <a:ext cx="2148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bills with line items, tax, and totals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3410712" y="1920240"/>
            <a:ext cx="2606040" cy="3291840"/>
          </a:xfrm>
          <a:prstGeom prst="roundRect">
            <a:avLst>
              <a:gd name="adj" fmla="val 4211"/>
            </a:avLst>
          </a:prstGeom>
          <a:solidFill>
            <a:srgbClr val="1E2761"/>
          </a:solidFill>
          <a:ln/>
          <a:effectLst>
            <a:outerShdw blurRad="101600" dist="38100" dir="5400000" algn="bl" rotWithShape="0">
              <a:srgbClr val="9AA5C7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8" name="Image 1" descr="/home/claude/ppt_build/icons/doc_balanc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9684" y="2286000"/>
            <a:ext cx="768096" cy="76809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593592" y="329184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Balance Sheet</a:t>
            </a:r>
            <a:endParaRPr lang="en-US" sz="1550" dirty="0"/>
          </a:p>
        </p:txBody>
      </p:sp>
      <p:sp>
        <p:nvSpPr>
          <p:cNvPr id="10" name="Text 6"/>
          <p:cNvSpPr/>
          <p:nvPr/>
        </p:nvSpPr>
        <p:spPr>
          <a:xfrm>
            <a:off x="3639312" y="3886200"/>
            <a:ext cx="2148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Assets, liabilities, and equity at a point in time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6272784" y="1920240"/>
            <a:ext cx="2606040" cy="3291840"/>
          </a:xfrm>
          <a:prstGeom prst="roundRect">
            <a:avLst>
              <a:gd name="adj" fmla="val 4211"/>
            </a:avLst>
          </a:prstGeom>
          <a:solidFill>
            <a:srgbClr val="1E2761"/>
          </a:solidFill>
          <a:ln/>
          <a:effectLst>
            <a:outerShdw blurRad="101600" dist="38100" dir="5400000" algn="bl" rotWithShape="0">
              <a:srgbClr val="9AA5C7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2" name="Image 2" descr="/home/claude/ppt_build/icons/doc_p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91756" y="2286000"/>
            <a:ext cx="768096" cy="76809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455664" y="329184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Profit &amp; Loss</a:t>
            </a:r>
            <a:endParaRPr lang="en-US" sz="1550" dirty="0"/>
          </a:p>
        </p:txBody>
      </p:sp>
      <p:sp>
        <p:nvSpPr>
          <p:cNvPr id="14" name="Text 9"/>
          <p:cNvSpPr/>
          <p:nvPr/>
        </p:nvSpPr>
        <p:spPr>
          <a:xfrm>
            <a:off x="6501384" y="3886200"/>
            <a:ext cx="2148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Revenue, expenses, and net profit over a period</a:t>
            </a:r>
            <a:endParaRPr lang="en-US" sz="1150" dirty="0"/>
          </a:p>
        </p:txBody>
      </p:sp>
      <p:sp>
        <p:nvSpPr>
          <p:cNvPr id="15" name="Shape 10"/>
          <p:cNvSpPr/>
          <p:nvPr/>
        </p:nvSpPr>
        <p:spPr>
          <a:xfrm>
            <a:off x="9134856" y="1920240"/>
            <a:ext cx="2606040" cy="3291840"/>
          </a:xfrm>
          <a:prstGeom prst="roundRect">
            <a:avLst>
              <a:gd name="adj" fmla="val 4211"/>
            </a:avLst>
          </a:prstGeom>
          <a:solidFill>
            <a:srgbClr val="1E2761"/>
          </a:solidFill>
          <a:ln/>
          <a:effectLst>
            <a:outerShdw blurRad="101600" dist="38100" dir="5400000" algn="bl" rotWithShape="0">
              <a:srgbClr val="9AA5C7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6" name="Image 3" descr="/home/claude/ppt_build/icons/doc_cashflo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53828" y="2286000"/>
            <a:ext cx="768096" cy="768096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9317736" y="329184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Cash Flow Statement</a:t>
            </a:r>
            <a:endParaRPr lang="en-US" sz="1550" dirty="0"/>
          </a:p>
        </p:txBody>
      </p:sp>
      <p:sp>
        <p:nvSpPr>
          <p:cNvPr id="18" name="Text 12"/>
          <p:cNvSpPr/>
          <p:nvPr/>
        </p:nvSpPr>
        <p:spPr>
          <a:xfrm>
            <a:off x="9363456" y="3886200"/>
            <a:ext cx="2148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Operating, investing, and financing cash movement</a:t>
            </a:r>
            <a:endParaRPr lang="en-US" sz="1150" dirty="0"/>
          </a:p>
        </p:txBody>
      </p:sp>
      <p:sp>
        <p:nvSpPr>
          <p:cNvPr id="19" name="Text 13"/>
          <p:cNvSpPr/>
          <p:nvPr/>
        </p:nvSpPr>
        <p:spPr>
          <a:xfrm>
            <a:off x="548640" y="553212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type has its own extraction schema and its own financial validation rules.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Document Intelligence</a:t>
            </a:r>
            <a:endParaRPr lang="en-US" sz="900" dirty="0"/>
          </a:p>
        </p:txBody>
      </p:sp>
      <p:sp>
        <p:nvSpPr>
          <p:cNvPr id="21" name="Text 1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2331720"/>
            <a:ext cx="1024128" cy="1371600"/>
          </a:xfrm>
          <a:prstGeom prst="roundRect">
            <a:avLst>
              <a:gd name="adj" fmla="val 8929"/>
            </a:avLst>
          </a:prstGeom>
          <a:solidFill>
            <a:srgbClr val="141A45"/>
          </a:solidFill>
          <a:ln w="12700">
            <a:solidFill>
              <a:srgbClr val="0E83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" name="Image 0" descr="/home/claude/ppt_build/icons/arch_us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2496312"/>
            <a:ext cx="512064" cy="51206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20040" y="3044952"/>
            <a:ext cx="12984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337564" y="2715768"/>
            <a:ext cx="4023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1596136" y="2331720"/>
            <a:ext cx="1024128" cy="1371600"/>
          </a:xfrm>
          <a:prstGeom prst="roundRect">
            <a:avLst>
              <a:gd name="adj" fmla="val 8929"/>
            </a:avLst>
          </a:prstGeom>
          <a:solidFill>
            <a:srgbClr val="141A45"/>
          </a:solidFill>
          <a:ln w="12700">
            <a:solidFill>
              <a:srgbClr val="0E83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8" name="Image 1" descr="/home/claude/ppt_build/icons/arch_fronten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52168" y="2496312"/>
            <a:ext cx="512064" cy="51206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458976" y="3044952"/>
            <a:ext cx="12984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2476500" y="2715768"/>
            <a:ext cx="4023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Shape 7"/>
          <p:cNvSpPr/>
          <p:nvPr/>
        </p:nvSpPr>
        <p:spPr>
          <a:xfrm>
            <a:off x="2735072" y="2331720"/>
            <a:ext cx="1024128" cy="1371600"/>
          </a:xfrm>
          <a:prstGeom prst="roundRect">
            <a:avLst>
              <a:gd name="adj" fmla="val 8929"/>
            </a:avLst>
          </a:prstGeom>
          <a:solidFill>
            <a:srgbClr val="141A45"/>
          </a:solidFill>
          <a:ln w="12700">
            <a:solidFill>
              <a:srgbClr val="0E83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2" name="Image 2" descr="/home/claude/ppt_build/icons/arch_api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91104" y="2496312"/>
            <a:ext cx="512064" cy="51206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2597912" y="3044952"/>
            <a:ext cx="12984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900" dirty="0"/>
          </a:p>
        </p:txBody>
      </p:sp>
      <p:sp>
        <p:nvSpPr>
          <p:cNvPr id="14" name="Text 9"/>
          <p:cNvSpPr/>
          <p:nvPr/>
        </p:nvSpPr>
        <p:spPr>
          <a:xfrm>
            <a:off x="3615436" y="2715768"/>
            <a:ext cx="4023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5" name="Shape 10"/>
          <p:cNvSpPr/>
          <p:nvPr/>
        </p:nvSpPr>
        <p:spPr>
          <a:xfrm>
            <a:off x="3874008" y="2331720"/>
            <a:ext cx="1024128" cy="1371600"/>
          </a:xfrm>
          <a:prstGeom prst="roundRect">
            <a:avLst>
              <a:gd name="adj" fmla="val 8929"/>
            </a:avLst>
          </a:prstGeom>
          <a:solidFill>
            <a:srgbClr val="141A45"/>
          </a:solidFill>
          <a:ln w="12700">
            <a:solidFill>
              <a:srgbClr val="0E83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6" name="Image 3" descr="/home/claude/ppt_build/icons/arch_valida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30040" y="2496312"/>
            <a:ext cx="512064" cy="512064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3736848" y="3044952"/>
            <a:ext cx="12984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</a:t>
            </a:r>
            <a:endParaRPr lang="en-US" sz="900" dirty="0"/>
          </a:p>
          <a:p>
            <a:pPr marL="0" indent="0" algn="ctr">
              <a:lnSpc>
                <a:spcPts val="1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900" dirty="0"/>
          </a:p>
        </p:txBody>
      </p:sp>
      <p:sp>
        <p:nvSpPr>
          <p:cNvPr id="18" name="Text 12"/>
          <p:cNvSpPr/>
          <p:nvPr/>
        </p:nvSpPr>
        <p:spPr>
          <a:xfrm>
            <a:off x="4754372" y="2715768"/>
            <a:ext cx="4023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9" name="Shape 13"/>
          <p:cNvSpPr/>
          <p:nvPr/>
        </p:nvSpPr>
        <p:spPr>
          <a:xfrm>
            <a:off x="5012944" y="2331720"/>
            <a:ext cx="1024128" cy="1371600"/>
          </a:xfrm>
          <a:prstGeom prst="roundRect">
            <a:avLst>
              <a:gd name="adj" fmla="val 8929"/>
            </a:avLst>
          </a:prstGeom>
          <a:solidFill>
            <a:srgbClr val="141A45"/>
          </a:solidFill>
          <a:ln w="12700">
            <a:solidFill>
              <a:srgbClr val="0E83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0" name="Image 4" descr="/home/claude/ppt_build/icons/arch_oc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68976" y="2496312"/>
            <a:ext cx="512064" cy="512064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4875784" y="3044952"/>
            <a:ext cx="12984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/</a:t>
            </a:r>
            <a:endParaRPr lang="en-US" sz="900" dirty="0"/>
          </a:p>
          <a:p>
            <a:pPr marL="0" indent="0" algn="ctr">
              <a:lnSpc>
                <a:spcPts val="1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PyMuPDF</a:t>
            </a:r>
            <a:endParaRPr lang="en-US" sz="900" dirty="0"/>
          </a:p>
        </p:txBody>
      </p:sp>
      <p:sp>
        <p:nvSpPr>
          <p:cNvPr id="22" name="Text 15"/>
          <p:cNvSpPr/>
          <p:nvPr/>
        </p:nvSpPr>
        <p:spPr>
          <a:xfrm>
            <a:off x="5893308" y="2715768"/>
            <a:ext cx="4023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3" name="Shape 16"/>
          <p:cNvSpPr/>
          <p:nvPr/>
        </p:nvSpPr>
        <p:spPr>
          <a:xfrm>
            <a:off x="6151880" y="2331720"/>
            <a:ext cx="1024128" cy="1371600"/>
          </a:xfrm>
          <a:prstGeom prst="roundRect">
            <a:avLst>
              <a:gd name="adj" fmla="val 8929"/>
            </a:avLst>
          </a:prstGeom>
          <a:solidFill>
            <a:srgbClr val="141A45"/>
          </a:solidFill>
          <a:ln w="12700">
            <a:solidFill>
              <a:srgbClr val="0E83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4" name="Image 5" descr="/home/claude/ppt_build/icons/arch_ai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07912" y="2496312"/>
            <a:ext cx="512064" cy="512064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6014720" y="3044952"/>
            <a:ext cx="12984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900" dirty="0"/>
          </a:p>
          <a:p>
            <a:pPr marL="0" indent="0" algn="ctr">
              <a:lnSpc>
                <a:spcPts val="1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</a:t>
            </a:r>
            <a:endParaRPr lang="en-US" sz="900" dirty="0"/>
          </a:p>
        </p:txBody>
      </p:sp>
      <p:sp>
        <p:nvSpPr>
          <p:cNvPr id="26" name="Text 18"/>
          <p:cNvSpPr/>
          <p:nvPr/>
        </p:nvSpPr>
        <p:spPr>
          <a:xfrm>
            <a:off x="7032244" y="2715768"/>
            <a:ext cx="4023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7" name="Shape 19"/>
          <p:cNvSpPr/>
          <p:nvPr/>
        </p:nvSpPr>
        <p:spPr>
          <a:xfrm>
            <a:off x="7290816" y="2331720"/>
            <a:ext cx="1024128" cy="1371600"/>
          </a:xfrm>
          <a:prstGeom prst="roundRect">
            <a:avLst>
              <a:gd name="adj" fmla="val 8929"/>
            </a:avLst>
          </a:prstGeom>
          <a:solidFill>
            <a:srgbClr val="141A45"/>
          </a:solidFill>
          <a:ln w="12700">
            <a:solidFill>
              <a:srgbClr val="0E83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8" name="Image 6" descr="/home/claude/ppt_build/icons/arch_json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46848" y="2496312"/>
            <a:ext cx="512064" cy="512064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7153656" y="3044952"/>
            <a:ext cx="12984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</a:t>
            </a:r>
            <a:endParaRPr lang="en-US" sz="900" dirty="0"/>
          </a:p>
          <a:p>
            <a:pPr marL="0" indent="0" algn="ctr">
              <a:lnSpc>
                <a:spcPts val="1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</a:t>
            </a:r>
            <a:endParaRPr lang="en-US" sz="900" dirty="0"/>
          </a:p>
        </p:txBody>
      </p:sp>
      <p:sp>
        <p:nvSpPr>
          <p:cNvPr id="30" name="Text 21"/>
          <p:cNvSpPr/>
          <p:nvPr/>
        </p:nvSpPr>
        <p:spPr>
          <a:xfrm>
            <a:off x="8171180" y="2715768"/>
            <a:ext cx="4023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31" name="Shape 22"/>
          <p:cNvSpPr/>
          <p:nvPr/>
        </p:nvSpPr>
        <p:spPr>
          <a:xfrm>
            <a:off x="8429752" y="2331720"/>
            <a:ext cx="1024128" cy="1371600"/>
          </a:xfrm>
          <a:prstGeom prst="roundRect">
            <a:avLst>
              <a:gd name="adj" fmla="val 8929"/>
            </a:avLst>
          </a:prstGeom>
          <a:solidFill>
            <a:srgbClr val="141A45"/>
          </a:solidFill>
          <a:ln w="12700">
            <a:solidFill>
              <a:srgbClr val="0E83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2" name="Image 7" descr="/home/claude/ppt_build/icons/arch_financ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685784" y="2496312"/>
            <a:ext cx="512064" cy="512064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8292592" y="3044952"/>
            <a:ext cx="12984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</a:t>
            </a:r>
            <a:endParaRPr lang="en-US" sz="900" dirty="0"/>
          </a:p>
          <a:p>
            <a:pPr marL="0" indent="0" algn="ctr">
              <a:lnSpc>
                <a:spcPts val="1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900" dirty="0"/>
          </a:p>
        </p:txBody>
      </p:sp>
      <p:sp>
        <p:nvSpPr>
          <p:cNvPr id="34" name="Text 24"/>
          <p:cNvSpPr/>
          <p:nvPr/>
        </p:nvSpPr>
        <p:spPr>
          <a:xfrm>
            <a:off x="9310116" y="2715768"/>
            <a:ext cx="4023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35" name="Shape 25"/>
          <p:cNvSpPr/>
          <p:nvPr/>
        </p:nvSpPr>
        <p:spPr>
          <a:xfrm>
            <a:off x="9568688" y="2331720"/>
            <a:ext cx="1024128" cy="1371600"/>
          </a:xfrm>
          <a:prstGeom prst="roundRect">
            <a:avLst>
              <a:gd name="adj" fmla="val 8929"/>
            </a:avLst>
          </a:prstGeom>
          <a:solidFill>
            <a:srgbClr val="141A45"/>
          </a:solidFill>
          <a:ln w="12700">
            <a:solidFill>
              <a:srgbClr val="0E83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6" name="Image 8" descr="/home/claude/ppt_build/icons/arch_db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824720" y="2496312"/>
            <a:ext cx="512064" cy="512064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9431528" y="3044952"/>
            <a:ext cx="12984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</a:t>
            </a:r>
            <a:endParaRPr lang="en-US" sz="900" dirty="0"/>
          </a:p>
          <a:p>
            <a:pPr marL="0" indent="0" algn="ctr">
              <a:lnSpc>
                <a:spcPts val="1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900" dirty="0"/>
          </a:p>
        </p:txBody>
      </p:sp>
      <p:sp>
        <p:nvSpPr>
          <p:cNvPr id="38" name="Text 27"/>
          <p:cNvSpPr/>
          <p:nvPr/>
        </p:nvSpPr>
        <p:spPr>
          <a:xfrm>
            <a:off x="10449052" y="2715768"/>
            <a:ext cx="4023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39" name="Shape 28"/>
          <p:cNvSpPr/>
          <p:nvPr/>
        </p:nvSpPr>
        <p:spPr>
          <a:xfrm>
            <a:off x="10707624" y="2331720"/>
            <a:ext cx="1024128" cy="1371600"/>
          </a:xfrm>
          <a:prstGeom prst="roundRect">
            <a:avLst>
              <a:gd name="adj" fmla="val 8929"/>
            </a:avLst>
          </a:prstGeom>
          <a:solidFill>
            <a:srgbClr val="141A45"/>
          </a:solidFill>
          <a:ln w="12700">
            <a:solidFill>
              <a:srgbClr val="0E83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0" name="Image 9" descr="/home/claude/ppt_build/icons/arch_dashboar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963656" y="2496312"/>
            <a:ext cx="512064" cy="512064"/>
          </a:xfrm>
          <a:prstGeom prst="rect">
            <a:avLst/>
          </a:prstGeom>
        </p:spPr>
      </p:pic>
      <p:sp>
        <p:nvSpPr>
          <p:cNvPr id="41" name="Text 29"/>
          <p:cNvSpPr/>
          <p:nvPr/>
        </p:nvSpPr>
        <p:spPr>
          <a:xfrm>
            <a:off x="10570464" y="3044952"/>
            <a:ext cx="12984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900" dirty="0"/>
          </a:p>
        </p:txBody>
      </p:sp>
      <p:sp>
        <p:nvSpPr>
          <p:cNvPr id="42" name="Text 30"/>
          <p:cNvSpPr/>
          <p:nvPr/>
        </p:nvSpPr>
        <p:spPr>
          <a:xfrm>
            <a:off x="548640" y="429768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linear, auditable pipeline every stage is a separately testable service.</a:t>
            </a:r>
            <a:endParaRPr lang="en-US" sz="1400" dirty="0"/>
          </a:p>
        </p:txBody>
      </p:sp>
      <p:sp>
        <p:nvSpPr>
          <p:cNvPr id="43" name="Shape 31"/>
          <p:cNvSpPr/>
          <p:nvPr/>
        </p:nvSpPr>
        <p:spPr>
          <a:xfrm>
            <a:off x="548640" y="5074920"/>
            <a:ext cx="3429000" cy="1234440"/>
          </a:xfrm>
          <a:prstGeom prst="roundRect">
            <a:avLst>
              <a:gd name="adj" fmla="val 7407"/>
            </a:avLst>
          </a:prstGeom>
          <a:solidFill>
            <a:srgbClr val="141A4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4" name="Text 32"/>
          <p:cNvSpPr/>
          <p:nvPr/>
        </p:nvSpPr>
        <p:spPr>
          <a:xfrm>
            <a:off x="731520" y="5184648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Validation first</a:t>
            </a:r>
            <a:endParaRPr lang="en-US" sz="1300" dirty="0"/>
          </a:p>
        </p:txBody>
      </p:sp>
      <p:sp>
        <p:nvSpPr>
          <p:cNvPr id="45" name="Text 33"/>
          <p:cNvSpPr/>
          <p:nvPr/>
        </p:nvSpPr>
        <p:spPr>
          <a:xfrm>
            <a:off x="731520" y="5513832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Rejects bad files before any OCR/AI cost is spent.</a:t>
            </a:r>
            <a:endParaRPr lang="en-US" sz="1050" dirty="0"/>
          </a:p>
        </p:txBody>
      </p:sp>
      <p:sp>
        <p:nvSpPr>
          <p:cNvPr id="46" name="Shape 34"/>
          <p:cNvSpPr/>
          <p:nvPr/>
        </p:nvSpPr>
        <p:spPr>
          <a:xfrm>
            <a:off x="4297680" y="5074920"/>
            <a:ext cx="3429000" cy="1234440"/>
          </a:xfrm>
          <a:prstGeom prst="roundRect">
            <a:avLst>
              <a:gd name="adj" fmla="val 7407"/>
            </a:avLst>
          </a:prstGeom>
          <a:solidFill>
            <a:srgbClr val="141A4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7" name="Text 35"/>
          <p:cNvSpPr/>
          <p:nvPr/>
        </p:nvSpPr>
        <p:spPr>
          <a:xfrm>
            <a:off x="4480560" y="5184648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Stateless services</a:t>
            </a:r>
            <a:endParaRPr lang="en-US" sz="1300" dirty="0"/>
          </a:p>
        </p:txBody>
      </p:sp>
      <p:sp>
        <p:nvSpPr>
          <p:cNvPr id="48" name="Text 36"/>
          <p:cNvSpPr/>
          <p:nvPr/>
        </p:nvSpPr>
        <p:spPr>
          <a:xfrm>
            <a:off x="4480560" y="5513832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stage (OCR, extraction, validation) is independently testable.</a:t>
            </a:r>
            <a:endParaRPr lang="en-US" sz="1050" dirty="0"/>
          </a:p>
        </p:txBody>
      </p:sp>
      <p:sp>
        <p:nvSpPr>
          <p:cNvPr id="49" name="Shape 37"/>
          <p:cNvSpPr/>
          <p:nvPr/>
        </p:nvSpPr>
        <p:spPr>
          <a:xfrm>
            <a:off x="8046720" y="5074920"/>
            <a:ext cx="3429000" cy="1234440"/>
          </a:xfrm>
          <a:prstGeom prst="roundRect">
            <a:avLst>
              <a:gd name="adj" fmla="val 7407"/>
            </a:avLst>
          </a:prstGeom>
          <a:solidFill>
            <a:srgbClr val="141A4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0" name="Text 38"/>
          <p:cNvSpPr/>
          <p:nvPr/>
        </p:nvSpPr>
        <p:spPr>
          <a:xfrm>
            <a:off x="8229600" y="5184648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Persistent + queryable</a:t>
            </a:r>
            <a:endParaRPr lang="en-US" sz="1300" dirty="0"/>
          </a:p>
        </p:txBody>
      </p:sp>
      <p:sp>
        <p:nvSpPr>
          <p:cNvPr id="51" name="Text 39"/>
          <p:cNvSpPr/>
          <p:nvPr/>
        </p:nvSpPr>
        <p:spPr>
          <a:xfrm>
            <a:off x="8229600" y="5513832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result is stored and retrievable by name via the API.</a:t>
            </a:r>
            <a:endParaRPr lang="en-US" sz="1050" dirty="0"/>
          </a:p>
        </p:txBody>
      </p:sp>
      <p:sp>
        <p:nvSpPr>
          <p:cNvPr id="52" name="Text 40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EB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Document Intelligence</a:t>
            </a:r>
            <a:endParaRPr lang="en-US" sz="900" dirty="0"/>
          </a:p>
        </p:txBody>
      </p:sp>
      <p:sp>
        <p:nvSpPr>
          <p:cNvPr id="53" name="Text 4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EB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691640"/>
            <a:ext cx="2148840" cy="1965960"/>
          </a:xfrm>
          <a:prstGeom prst="roundRect">
            <a:avLst>
              <a:gd name="adj" fmla="val 4651"/>
            </a:avLst>
          </a:prstGeom>
          <a:solidFill>
            <a:srgbClr val="F5F7F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/home/claude/ppt_build/icons/tech_pyth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3020" y="1892808"/>
            <a:ext cx="640080" cy="640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260604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640080" y="297180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language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2788920" y="1691640"/>
            <a:ext cx="2148840" cy="1965960"/>
          </a:xfrm>
          <a:prstGeom prst="roundRect">
            <a:avLst>
              <a:gd name="adj" fmla="val 4651"/>
            </a:avLst>
          </a:prstGeom>
          <a:solidFill>
            <a:srgbClr val="F5F7F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8" name="Image 1" descr="/home/claude/ppt_build/icons/tech_api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43300" y="1892808"/>
            <a:ext cx="640080" cy="6400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2880360" y="260604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FastAPI</a:t>
            </a:r>
            <a:endParaRPr lang="en-US" sz="1250" dirty="0"/>
          </a:p>
        </p:txBody>
      </p:sp>
      <p:sp>
        <p:nvSpPr>
          <p:cNvPr id="10" name="Text 6"/>
          <p:cNvSpPr/>
          <p:nvPr/>
        </p:nvSpPr>
        <p:spPr>
          <a:xfrm>
            <a:off x="2880360" y="297180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+ Swagger</a:t>
            </a:r>
            <a:endParaRPr lang="en-US" sz="950" dirty="0"/>
          </a:p>
        </p:txBody>
      </p:sp>
      <p:sp>
        <p:nvSpPr>
          <p:cNvPr id="11" name="Shape 7"/>
          <p:cNvSpPr/>
          <p:nvPr/>
        </p:nvSpPr>
        <p:spPr>
          <a:xfrm>
            <a:off x="5029200" y="1691640"/>
            <a:ext cx="2148840" cy="1965960"/>
          </a:xfrm>
          <a:prstGeom prst="roundRect">
            <a:avLst>
              <a:gd name="adj" fmla="val 4651"/>
            </a:avLst>
          </a:prstGeom>
          <a:solidFill>
            <a:srgbClr val="F5F7F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2" name="Image 2" descr="/home/claude/ppt_build/icons/tech_we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83580" y="1892808"/>
            <a:ext cx="640080" cy="64008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120640" y="260604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HTML / CSS / JS</a:t>
            </a:r>
            <a:endParaRPr lang="en-US" sz="1250" dirty="0"/>
          </a:p>
        </p:txBody>
      </p:sp>
      <p:sp>
        <p:nvSpPr>
          <p:cNvPr id="14" name="Text 9"/>
          <p:cNvSpPr/>
          <p:nvPr/>
        </p:nvSpPr>
        <p:spPr>
          <a:xfrm>
            <a:off x="5120640" y="297180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frontend</a:t>
            </a:r>
            <a:endParaRPr lang="en-US" sz="950" dirty="0"/>
          </a:p>
        </p:txBody>
      </p:sp>
      <p:sp>
        <p:nvSpPr>
          <p:cNvPr id="15" name="Shape 10"/>
          <p:cNvSpPr/>
          <p:nvPr/>
        </p:nvSpPr>
        <p:spPr>
          <a:xfrm>
            <a:off x="7269480" y="1691640"/>
            <a:ext cx="2148840" cy="1965960"/>
          </a:xfrm>
          <a:prstGeom prst="roundRect">
            <a:avLst>
              <a:gd name="adj" fmla="val 4651"/>
            </a:avLst>
          </a:prstGeom>
          <a:solidFill>
            <a:srgbClr val="F5F7F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6" name="Image 3" descr="/home/claude/ppt_build/icons/tech_pd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23860" y="1892808"/>
            <a:ext cx="640080" cy="64008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7360920" y="260604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PyMuPDF</a:t>
            </a:r>
            <a:endParaRPr lang="en-US" sz="1250" dirty="0"/>
          </a:p>
        </p:txBody>
      </p:sp>
      <p:sp>
        <p:nvSpPr>
          <p:cNvPr id="18" name="Text 12"/>
          <p:cNvSpPr/>
          <p:nvPr/>
        </p:nvSpPr>
        <p:spPr>
          <a:xfrm>
            <a:off x="7360920" y="297180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parsing</a:t>
            </a:r>
            <a:endParaRPr lang="en-US" sz="950" dirty="0"/>
          </a:p>
        </p:txBody>
      </p:sp>
      <p:sp>
        <p:nvSpPr>
          <p:cNvPr id="19" name="Shape 13"/>
          <p:cNvSpPr/>
          <p:nvPr/>
        </p:nvSpPr>
        <p:spPr>
          <a:xfrm>
            <a:off x="9509760" y="1691640"/>
            <a:ext cx="2148840" cy="1965960"/>
          </a:xfrm>
          <a:prstGeom prst="roundRect">
            <a:avLst>
              <a:gd name="adj" fmla="val 4651"/>
            </a:avLst>
          </a:prstGeom>
          <a:solidFill>
            <a:srgbClr val="F5F7F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0" name="Image 4" descr="/home/claude/ppt_build/icons/tech_oc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64140" y="1892808"/>
            <a:ext cx="640080" cy="64008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9601200" y="260604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Tesseract OCR</a:t>
            </a:r>
            <a:endParaRPr lang="en-US" sz="1250" dirty="0"/>
          </a:p>
        </p:txBody>
      </p:sp>
      <p:sp>
        <p:nvSpPr>
          <p:cNvPr id="22" name="Text 15"/>
          <p:cNvSpPr/>
          <p:nvPr/>
        </p:nvSpPr>
        <p:spPr>
          <a:xfrm>
            <a:off x="9601200" y="297180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Scanned text extraction</a:t>
            </a:r>
            <a:endParaRPr lang="en-US" sz="950" dirty="0"/>
          </a:p>
        </p:txBody>
      </p:sp>
      <p:sp>
        <p:nvSpPr>
          <p:cNvPr id="23" name="Shape 16"/>
          <p:cNvSpPr/>
          <p:nvPr/>
        </p:nvSpPr>
        <p:spPr>
          <a:xfrm>
            <a:off x="548640" y="3886200"/>
            <a:ext cx="2148840" cy="1965960"/>
          </a:xfrm>
          <a:prstGeom prst="roundRect">
            <a:avLst>
              <a:gd name="adj" fmla="val 4651"/>
            </a:avLst>
          </a:prstGeom>
          <a:solidFill>
            <a:srgbClr val="F5F7F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4" name="Image 5" descr="/home/claude/ppt_build/icons/tech_ai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03020" y="4087368"/>
            <a:ext cx="640080" cy="64008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640080" y="480060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Gemini LLM</a:t>
            </a:r>
            <a:endParaRPr lang="en-US" sz="1250" dirty="0"/>
          </a:p>
        </p:txBody>
      </p:sp>
      <p:sp>
        <p:nvSpPr>
          <p:cNvPr id="26" name="Text 18"/>
          <p:cNvSpPr/>
          <p:nvPr/>
        </p:nvSpPr>
        <p:spPr>
          <a:xfrm>
            <a:off x="640080" y="516636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field extraction</a:t>
            </a:r>
            <a:endParaRPr lang="en-US" sz="950" dirty="0"/>
          </a:p>
        </p:txBody>
      </p:sp>
      <p:sp>
        <p:nvSpPr>
          <p:cNvPr id="27" name="Shape 19"/>
          <p:cNvSpPr/>
          <p:nvPr/>
        </p:nvSpPr>
        <p:spPr>
          <a:xfrm>
            <a:off x="2788920" y="3886200"/>
            <a:ext cx="2148840" cy="1965960"/>
          </a:xfrm>
          <a:prstGeom prst="roundRect">
            <a:avLst>
              <a:gd name="adj" fmla="val 4651"/>
            </a:avLst>
          </a:prstGeom>
          <a:solidFill>
            <a:srgbClr val="F5F7F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8" name="Image 6" descr="/home/claude/ppt_build/icons/tech_pydantic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543300" y="4087368"/>
            <a:ext cx="640080" cy="64008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2880360" y="480060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Pydantic</a:t>
            </a:r>
            <a:endParaRPr lang="en-US" sz="1250" dirty="0"/>
          </a:p>
        </p:txBody>
      </p:sp>
      <p:sp>
        <p:nvSpPr>
          <p:cNvPr id="30" name="Text 21"/>
          <p:cNvSpPr/>
          <p:nvPr/>
        </p:nvSpPr>
        <p:spPr>
          <a:xfrm>
            <a:off x="2880360" y="516636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validation</a:t>
            </a:r>
            <a:endParaRPr lang="en-US" sz="950" dirty="0"/>
          </a:p>
        </p:txBody>
      </p:sp>
      <p:sp>
        <p:nvSpPr>
          <p:cNvPr id="31" name="Shape 22"/>
          <p:cNvSpPr/>
          <p:nvPr/>
        </p:nvSpPr>
        <p:spPr>
          <a:xfrm>
            <a:off x="5029200" y="3886200"/>
            <a:ext cx="2148840" cy="1965960"/>
          </a:xfrm>
          <a:prstGeom prst="roundRect">
            <a:avLst>
              <a:gd name="adj" fmla="val 4651"/>
            </a:avLst>
          </a:prstGeom>
          <a:solidFill>
            <a:srgbClr val="F5F7F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2" name="Image 7" descr="/home/claude/ppt_build/icons/tech_sqlit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783580" y="4087368"/>
            <a:ext cx="640080" cy="64008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120640" y="480060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SQLite</a:t>
            </a:r>
            <a:endParaRPr lang="en-US" sz="1250" dirty="0"/>
          </a:p>
        </p:txBody>
      </p:sp>
      <p:sp>
        <p:nvSpPr>
          <p:cNvPr id="34" name="Text 24"/>
          <p:cNvSpPr/>
          <p:nvPr/>
        </p:nvSpPr>
        <p:spPr>
          <a:xfrm>
            <a:off x="5120640" y="516636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Persistence layer</a:t>
            </a:r>
            <a:endParaRPr lang="en-US" sz="950" dirty="0"/>
          </a:p>
        </p:txBody>
      </p:sp>
      <p:sp>
        <p:nvSpPr>
          <p:cNvPr id="35" name="Shape 25"/>
          <p:cNvSpPr/>
          <p:nvPr/>
        </p:nvSpPr>
        <p:spPr>
          <a:xfrm>
            <a:off x="7269480" y="3886200"/>
            <a:ext cx="2148840" cy="1965960"/>
          </a:xfrm>
          <a:prstGeom prst="roundRect">
            <a:avLst>
              <a:gd name="adj" fmla="val 4651"/>
            </a:avLst>
          </a:prstGeom>
          <a:solidFill>
            <a:srgbClr val="F5F7F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6" name="Image 8" descr="/home/claude/ppt_build/icons/tech_docker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023860" y="4087368"/>
            <a:ext cx="640080" cy="64008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7360920" y="480060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Docker</a:t>
            </a:r>
            <a:endParaRPr lang="en-US" sz="1250" dirty="0"/>
          </a:p>
        </p:txBody>
      </p:sp>
      <p:sp>
        <p:nvSpPr>
          <p:cNvPr id="38" name="Text 27"/>
          <p:cNvSpPr/>
          <p:nvPr/>
        </p:nvSpPr>
        <p:spPr>
          <a:xfrm>
            <a:off x="7360920" y="516636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Containerized deployment</a:t>
            </a:r>
            <a:endParaRPr lang="en-US" sz="950" dirty="0"/>
          </a:p>
        </p:txBody>
      </p:sp>
      <p:sp>
        <p:nvSpPr>
          <p:cNvPr id="39" name="Shape 28"/>
          <p:cNvSpPr/>
          <p:nvPr/>
        </p:nvSpPr>
        <p:spPr>
          <a:xfrm>
            <a:off x="9509760" y="3886200"/>
            <a:ext cx="2148840" cy="1965960"/>
          </a:xfrm>
          <a:prstGeom prst="roundRect">
            <a:avLst>
              <a:gd name="adj" fmla="val 4651"/>
            </a:avLst>
          </a:prstGeom>
          <a:solidFill>
            <a:srgbClr val="F5F7F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0" name="Image 9" descr="/home/claude/ppt_build/icons/tech_render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264140" y="4087368"/>
            <a:ext cx="640080" cy="640080"/>
          </a:xfrm>
          <a:prstGeom prst="rect">
            <a:avLst/>
          </a:prstGeom>
        </p:spPr>
      </p:pic>
      <p:sp>
        <p:nvSpPr>
          <p:cNvPr id="41" name="Text 29"/>
          <p:cNvSpPr/>
          <p:nvPr/>
        </p:nvSpPr>
        <p:spPr>
          <a:xfrm>
            <a:off x="9601200" y="480060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Render</a:t>
            </a:r>
            <a:endParaRPr lang="en-US" sz="1250" dirty="0"/>
          </a:p>
        </p:txBody>
      </p:sp>
      <p:sp>
        <p:nvSpPr>
          <p:cNvPr id="42" name="Text 30"/>
          <p:cNvSpPr/>
          <p:nvPr/>
        </p:nvSpPr>
        <p:spPr>
          <a:xfrm>
            <a:off x="9601200" y="516636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hosting</a:t>
            </a:r>
            <a:endParaRPr lang="en-US" sz="950" dirty="0"/>
          </a:p>
        </p:txBody>
      </p:sp>
      <p:sp>
        <p:nvSpPr>
          <p:cNvPr id="43" name="Text 31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Document Intelligence</a:t>
            </a:r>
            <a:endParaRPr lang="en-US" sz="900" dirty="0"/>
          </a:p>
        </p:txBody>
      </p:sp>
      <p:sp>
        <p:nvSpPr>
          <p:cNvPr id="44" name="Text 3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 Processing Pipeline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2103120"/>
            <a:ext cx="1417320" cy="1737360"/>
          </a:xfrm>
          <a:prstGeom prst="roundRect">
            <a:avLst>
              <a:gd name="adj" fmla="val 7742"/>
            </a:avLst>
          </a:prstGeom>
          <a:solidFill>
            <a:srgbClr val="1E2761"/>
          </a:solidFill>
          <a:ln/>
          <a:effectLst>
            <a:outerShdw blurRad="76200" dist="25400" dir="5400000" algn="bl" rotWithShape="0">
              <a:srgbClr val="9AA5C7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4" name="Image 0" descr="/home/claude/ppt_build/icons/pipe_uplo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6404" y="2304288"/>
            <a:ext cx="621792" cy="62179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301752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1880616" y="274320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2161032" y="2103120"/>
            <a:ext cx="1417320" cy="1737360"/>
          </a:xfrm>
          <a:prstGeom prst="roundRect">
            <a:avLst>
              <a:gd name="adj" fmla="val 7742"/>
            </a:avLst>
          </a:prstGeom>
          <a:solidFill>
            <a:srgbClr val="0E8388"/>
          </a:solidFill>
          <a:ln/>
          <a:effectLst>
            <a:outerShdw blurRad="76200" dist="25400" dir="5400000" algn="bl" rotWithShape="0">
              <a:srgbClr val="9AA5C7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8" name="Image 1" descr="/home/claude/ppt_build/icons/pipe_valida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58796" y="2304288"/>
            <a:ext cx="621792" cy="62179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2069592" y="301752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3493008" y="274320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1" name="Shape 7"/>
          <p:cNvSpPr/>
          <p:nvPr/>
        </p:nvSpPr>
        <p:spPr>
          <a:xfrm>
            <a:off x="3773424" y="2103120"/>
            <a:ext cx="1417320" cy="1737360"/>
          </a:xfrm>
          <a:prstGeom prst="roundRect">
            <a:avLst>
              <a:gd name="adj" fmla="val 7742"/>
            </a:avLst>
          </a:prstGeom>
          <a:solidFill>
            <a:srgbClr val="1E2761"/>
          </a:solidFill>
          <a:ln/>
          <a:effectLst>
            <a:outerShdw blurRad="76200" dist="25400" dir="5400000" algn="bl" rotWithShape="0">
              <a:srgbClr val="9AA5C7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2" name="Image 2" descr="/home/claude/ppt_build/icons/pipe_oc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71188" y="2304288"/>
            <a:ext cx="621792" cy="62179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681984" y="301752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/ Text</a:t>
            </a:r>
            <a:endParaRPr lang="en-US" sz="1100" dirty="0"/>
          </a:p>
          <a:p>
            <a:pPr marL="0" indent="0" algn="ctr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</a:t>
            </a:r>
            <a:endParaRPr lang="en-US" sz="1100" dirty="0"/>
          </a:p>
        </p:txBody>
      </p:sp>
      <p:sp>
        <p:nvSpPr>
          <p:cNvPr id="14" name="Text 9"/>
          <p:cNvSpPr/>
          <p:nvPr/>
        </p:nvSpPr>
        <p:spPr>
          <a:xfrm>
            <a:off x="5105400" y="274320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5" name="Shape 10"/>
          <p:cNvSpPr/>
          <p:nvPr/>
        </p:nvSpPr>
        <p:spPr>
          <a:xfrm>
            <a:off x="5385816" y="2103120"/>
            <a:ext cx="1417320" cy="1737360"/>
          </a:xfrm>
          <a:prstGeom prst="roundRect">
            <a:avLst>
              <a:gd name="adj" fmla="val 7742"/>
            </a:avLst>
          </a:prstGeom>
          <a:solidFill>
            <a:srgbClr val="0E8388"/>
          </a:solidFill>
          <a:ln/>
          <a:effectLst>
            <a:outerShdw blurRad="76200" dist="25400" dir="5400000" algn="bl" rotWithShape="0">
              <a:srgbClr val="9AA5C7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6" name="Image 3" descr="/home/claude/ppt_build/icons/pipe_ai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83580" y="2304288"/>
            <a:ext cx="621792" cy="62179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294376" y="301752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100" dirty="0"/>
          </a:p>
          <a:p>
            <a:pPr marL="0" indent="0" algn="ctr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</a:t>
            </a:r>
            <a:endParaRPr lang="en-US" sz="1100" dirty="0"/>
          </a:p>
        </p:txBody>
      </p:sp>
      <p:sp>
        <p:nvSpPr>
          <p:cNvPr id="18" name="Text 12"/>
          <p:cNvSpPr/>
          <p:nvPr/>
        </p:nvSpPr>
        <p:spPr>
          <a:xfrm>
            <a:off x="6717792" y="274320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9" name="Shape 13"/>
          <p:cNvSpPr/>
          <p:nvPr/>
        </p:nvSpPr>
        <p:spPr>
          <a:xfrm>
            <a:off x="6998208" y="2103120"/>
            <a:ext cx="1417320" cy="1737360"/>
          </a:xfrm>
          <a:prstGeom prst="roundRect">
            <a:avLst>
              <a:gd name="adj" fmla="val 7742"/>
            </a:avLst>
          </a:prstGeom>
          <a:solidFill>
            <a:srgbClr val="1E2761"/>
          </a:solidFill>
          <a:ln/>
          <a:effectLst>
            <a:outerShdw blurRad="76200" dist="25400" dir="5400000" algn="bl" rotWithShape="0">
              <a:srgbClr val="9AA5C7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20" name="Image 4" descr="/home/claude/ppt_build/icons/pipe_jso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95972" y="2304288"/>
            <a:ext cx="621792" cy="621792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6906768" y="301752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</a:t>
            </a:r>
            <a:endParaRPr lang="en-US" sz="1100" dirty="0"/>
          </a:p>
        </p:txBody>
      </p:sp>
      <p:sp>
        <p:nvSpPr>
          <p:cNvPr id="22" name="Text 15"/>
          <p:cNvSpPr/>
          <p:nvPr/>
        </p:nvSpPr>
        <p:spPr>
          <a:xfrm>
            <a:off x="8330184" y="274320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3" name="Shape 16"/>
          <p:cNvSpPr/>
          <p:nvPr/>
        </p:nvSpPr>
        <p:spPr>
          <a:xfrm>
            <a:off x="8610600" y="2103120"/>
            <a:ext cx="1417320" cy="1737360"/>
          </a:xfrm>
          <a:prstGeom prst="roundRect">
            <a:avLst>
              <a:gd name="adj" fmla="val 7742"/>
            </a:avLst>
          </a:prstGeom>
          <a:solidFill>
            <a:srgbClr val="0E8388"/>
          </a:solidFill>
          <a:ln/>
          <a:effectLst>
            <a:outerShdw blurRad="76200" dist="25400" dir="5400000" algn="bl" rotWithShape="0">
              <a:srgbClr val="9AA5C7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24" name="Image 5" descr="/home/claude/ppt_build/icons/pipe_financ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08364" y="2304288"/>
            <a:ext cx="621792" cy="621792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8519160" y="301752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</a:t>
            </a:r>
            <a:endParaRPr lang="en-US" sz="1100" dirty="0"/>
          </a:p>
          <a:p>
            <a:pPr marL="0" indent="0" algn="ctr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100" dirty="0"/>
          </a:p>
        </p:txBody>
      </p:sp>
      <p:sp>
        <p:nvSpPr>
          <p:cNvPr id="26" name="Text 18"/>
          <p:cNvSpPr/>
          <p:nvPr/>
        </p:nvSpPr>
        <p:spPr>
          <a:xfrm>
            <a:off x="9942576" y="274320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7" name="Shape 19"/>
          <p:cNvSpPr/>
          <p:nvPr/>
        </p:nvSpPr>
        <p:spPr>
          <a:xfrm>
            <a:off x="10222992" y="2103120"/>
            <a:ext cx="1417320" cy="1737360"/>
          </a:xfrm>
          <a:prstGeom prst="roundRect">
            <a:avLst>
              <a:gd name="adj" fmla="val 7742"/>
            </a:avLst>
          </a:prstGeom>
          <a:solidFill>
            <a:srgbClr val="1E2761"/>
          </a:solidFill>
          <a:ln/>
          <a:effectLst>
            <a:outerShdw blurRad="76200" dist="25400" dir="5400000" algn="bl" rotWithShape="0">
              <a:srgbClr val="9AA5C7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28" name="Image 6" descr="/home/claude/ppt_build/icons/pipe_stor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620756" y="2304288"/>
            <a:ext cx="621792" cy="621792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10131552" y="301752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</a:t>
            </a:r>
            <a:endParaRPr lang="en-US" sz="1100" dirty="0"/>
          </a:p>
          <a:p>
            <a:pPr marL="0" indent="0" algn="ctr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100" dirty="0"/>
          </a:p>
        </p:txBody>
      </p:sp>
      <p:sp>
        <p:nvSpPr>
          <p:cNvPr id="30" name="Text 21"/>
          <p:cNvSpPr/>
          <p:nvPr/>
        </p:nvSpPr>
        <p:spPr>
          <a:xfrm>
            <a:off x="548640" y="429768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stage fails safely: a bad file is rejected at Validate, never reaching OCR or AI.</a:t>
            </a:r>
            <a:endParaRPr lang="en-US" sz="1400" dirty="0"/>
          </a:p>
        </p:txBody>
      </p:sp>
      <p:sp>
        <p:nvSpPr>
          <p:cNvPr id="31" name="Shape 22"/>
          <p:cNvSpPr/>
          <p:nvPr/>
        </p:nvSpPr>
        <p:spPr>
          <a:xfrm>
            <a:off x="548640" y="5029200"/>
            <a:ext cx="5349240" cy="1188720"/>
          </a:xfrm>
          <a:prstGeom prst="roundRect">
            <a:avLst>
              <a:gd name="adj" fmla="val 7692"/>
            </a:avLst>
          </a:prstGeom>
          <a:solidFill>
            <a:srgbClr val="F5F7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23"/>
          <p:cNvSpPr/>
          <p:nvPr/>
        </p:nvSpPr>
        <p:spPr>
          <a:xfrm>
            <a:off x="777240" y="5138928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 path</a:t>
            </a:r>
            <a:endParaRPr lang="en-US" sz="1300" dirty="0"/>
          </a:p>
        </p:txBody>
      </p:sp>
      <p:sp>
        <p:nvSpPr>
          <p:cNvPr id="33" name="Text 24"/>
          <p:cNvSpPr/>
          <p:nvPr/>
        </p:nvSpPr>
        <p:spPr>
          <a:xfrm>
            <a:off x="777240" y="5486400"/>
            <a:ext cx="4892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PDF text is read directly  no OCR needed when text is already embedded.</a:t>
            </a:r>
            <a:endParaRPr lang="en-US" sz="1100" dirty="0"/>
          </a:p>
        </p:txBody>
      </p:sp>
      <p:sp>
        <p:nvSpPr>
          <p:cNvPr id="34" name="Shape 25"/>
          <p:cNvSpPr/>
          <p:nvPr/>
        </p:nvSpPr>
        <p:spPr>
          <a:xfrm>
            <a:off x="6263640" y="5029200"/>
            <a:ext cx="5349240" cy="1188720"/>
          </a:xfrm>
          <a:prstGeom prst="roundRect">
            <a:avLst>
              <a:gd name="adj" fmla="val 7692"/>
            </a:avLst>
          </a:prstGeom>
          <a:solidFill>
            <a:srgbClr val="F5F7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Text 26"/>
          <p:cNvSpPr/>
          <p:nvPr/>
        </p:nvSpPr>
        <p:spPr>
          <a:xfrm>
            <a:off x="6492240" y="5138928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Fallback path</a:t>
            </a:r>
            <a:endParaRPr lang="en-US" sz="1300" dirty="0"/>
          </a:p>
        </p:txBody>
      </p:sp>
      <p:sp>
        <p:nvSpPr>
          <p:cNvPr id="36" name="Text 27"/>
          <p:cNvSpPr/>
          <p:nvPr/>
        </p:nvSpPr>
        <p:spPr>
          <a:xfrm>
            <a:off x="6492240" y="5486400"/>
            <a:ext cx="4892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Scanned pages or images are rasterized and read with Tesseract OCR.</a:t>
            </a:r>
            <a:endParaRPr lang="en-US" sz="1100" dirty="0"/>
          </a:p>
        </p:txBody>
      </p:sp>
      <p:sp>
        <p:nvSpPr>
          <p:cNvPr id="37" name="Text 28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Document Intelligence</a:t>
            </a:r>
            <a:endParaRPr lang="en-US" sz="900" dirty="0"/>
          </a:p>
        </p:txBody>
      </p:sp>
      <p:sp>
        <p:nvSpPr>
          <p:cNvPr id="38" name="Text 2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Financial Validation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5394960" cy="1371600"/>
          </a:xfrm>
          <a:prstGeom prst="roundRect">
            <a:avLst>
              <a:gd name="adj" fmla="val 6667"/>
            </a:avLst>
          </a:prstGeom>
          <a:solidFill>
            <a:srgbClr val="F5F7F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/home/claude/ppt_build/icons/fin_invoi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1947672"/>
            <a:ext cx="685800" cy="685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00200" y="1764792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Invoice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600200" y="2167128"/>
            <a:ext cx="4160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Quantity × Unit Price = Line Total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6263640" y="1600200"/>
            <a:ext cx="5394960" cy="1371600"/>
          </a:xfrm>
          <a:prstGeom prst="roundRect">
            <a:avLst>
              <a:gd name="adj" fmla="val 6667"/>
            </a:avLst>
          </a:prstGeom>
          <a:solidFill>
            <a:srgbClr val="F5F7F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8" name="Image 1" descr="/home/claude/ppt_build/icons/fin_balanc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4808" y="1947672"/>
            <a:ext cx="685800" cy="6858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315200" y="1764792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Balance Sheet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7315200" y="2167128"/>
            <a:ext cx="4160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Assets = Capital &amp; Liabilities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548640" y="3200400"/>
            <a:ext cx="5394960" cy="1371600"/>
          </a:xfrm>
          <a:prstGeom prst="roundRect">
            <a:avLst>
              <a:gd name="adj" fmla="val 6667"/>
            </a:avLst>
          </a:prstGeom>
          <a:solidFill>
            <a:srgbClr val="F5F7F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2" name="Image 2" descr="/home/claude/ppt_build/icons/fin_p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808" y="3547872"/>
            <a:ext cx="685800" cy="6858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600200" y="3364992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Profit &amp; Loss</a:t>
            </a:r>
            <a:endParaRPr lang="en-US" sz="1500" dirty="0"/>
          </a:p>
        </p:txBody>
      </p:sp>
      <p:sp>
        <p:nvSpPr>
          <p:cNvPr id="14" name="Text 9"/>
          <p:cNvSpPr/>
          <p:nvPr/>
        </p:nvSpPr>
        <p:spPr>
          <a:xfrm>
            <a:off x="1600200" y="3767328"/>
            <a:ext cx="4160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 − Expenditure = Profit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6263640" y="3200400"/>
            <a:ext cx="5394960" cy="1371600"/>
          </a:xfrm>
          <a:prstGeom prst="roundRect">
            <a:avLst>
              <a:gd name="adj" fmla="val 6667"/>
            </a:avLst>
          </a:prstGeom>
          <a:solidFill>
            <a:srgbClr val="F5F7F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6" name="Image 3" descr="/home/claude/ppt_build/icons/fin_cash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64808" y="3547872"/>
            <a:ext cx="685800" cy="68580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7315200" y="3364992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Cash Flow</a:t>
            </a:r>
            <a:endParaRPr lang="en-US" sz="1500" dirty="0"/>
          </a:p>
        </p:txBody>
      </p:sp>
      <p:sp>
        <p:nvSpPr>
          <p:cNvPr id="18" name="Text 12"/>
          <p:cNvSpPr/>
          <p:nvPr/>
        </p:nvSpPr>
        <p:spPr>
          <a:xfrm>
            <a:off x="7315200" y="3767328"/>
            <a:ext cx="4160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Opening Cash + Net Change = Closing Cash</a:t>
            </a:r>
            <a:endParaRPr lang="en-US" sz="1250" dirty="0"/>
          </a:p>
        </p:txBody>
      </p:sp>
      <p:sp>
        <p:nvSpPr>
          <p:cNvPr id="19" name="Text 13"/>
          <p:cNvSpPr/>
          <p:nvPr/>
        </p:nvSpPr>
        <p:spPr>
          <a:xfrm>
            <a:off x="548640" y="5029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check returns one of three statuses:</a:t>
            </a:r>
            <a:endParaRPr lang="en-US" sz="1300" dirty="0"/>
          </a:p>
        </p:txBody>
      </p:sp>
      <p:sp>
        <p:nvSpPr>
          <p:cNvPr id="20" name="Shape 14"/>
          <p:cNvSpPr/>
          <p:nvPr/>
        </p:nvSpPr>
        <p:spPr>
          <a:xfrm>
            <a:off x="548640" y="5532120"/>
            <a:ext cx="1051560" cy="502920"/>
          </a:xfrm>
          <a:prstGeom prst="roundRect">
            <a:avLst>
              <a:gd name="adj" fmla="val 50909"/>
            </a:avLst>
          </a:prstGeom>
          <a:solidFill>
            <a:srgbClr val="1A8A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5"/>
          <p:cNvSpPr/>
          <p:nvPr/>
        </p:nvSpPr>
        <p:spPr>
          <a:xfrm>
            <a:off x="548640" y="553212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100" dirty="0"/>
          </a:p>
        </p:txBody>
      </p:sp>
      <p:sp>
        <p:nvSpPr>
          <p:cNvPr id="22" name="Text 16"/>
          <p:cNvSpPr/>
          <p:nvPr/>
        </p:nvSpPr>
        <p:spPr>
          <a:xfrm>
            <a:off x="1783080" y="553212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Calculated value matches reported value</a:t>
            </a:r>
            <a:endParaRPr lang="en-US" sz="1050" dirty="0"/>
          </a:p>
        </p:txBody>
      </p:sp>
      <p:sp>
        <p:nvSpPr>
          <p:cNvPr id="23" name="Shape 17"/>
          <p:cNvSpPr/>
          <p:nvPr/>
        </p:nvSpPr>
        <p:spPr>
          <a:xfrm>
            <a:off x="5394960" y="5532120"/>
            <a:ext cx="1051560" cy="502920"/>
          </a:xfrm>
          <a:prstGeom prst="roundRect">
            <a:avLst>
              <a:gd name="adj" fmla="val 50909"/>
            </a:avLst>
          </a:prstGeom>
          <a:solidFill>
            <a:srgbClr val="C6282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18"/>
          <p:cNvSpPr/>
          <p:nvPr/>
        </p:nvSpPr>
        <p:spPr>
          <a:xfrm>
            <a:off x="5394960" y="553212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</a:t>
            </a:r>
            <a:endParaRPr lang="en-US" sz="1100" dirty="0"/>
          </a:p>
        </p:txBody>
      </p:sp>
      <p:sp>
        <p:nvSpPr>
          <p:cNvPr id="25" name="Text 19"/>
          <p:cNvSpPr/>
          <p:nvPr/>
        </p:nvSpPr>
        <p:spPr>
          <a:xfrm>
            <a:off x="6629400" y="553212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Values differ beyond tolerance</a:t>
            </a:r>
            <a:endParaRPr lang="en-US" sz="1050" dirty="0"/>
          </a:p>
        </p:txBody>
      </p:sp>
      <p:sp>
        <p:nvSpPr>
          <p:cNvPr id="26" name="Shape 20"/>
          <p:cNvSpPr/>
          <p:nvPr/>
        </p:nvSpPr>
        <p:spPr>
          <a:xfrm>
            <a:off x="10241280" y="5532120"/>
            <a:ext cx="1920240" cy="502920"/>
          </a:xfrm>
          <a:prstGeom prst="roundRect">
            <a:avLst>
              <a:gd name="adj" fmla="val 50909"/>
            </a:avLst>
          </a:prstGeom>
          <a:solidFill>
            <a:srgbClr val="9A7B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1"/>
          <p:cNvSpPr/>
          <p:nvPr/>
        </p:nvSpPr>
        <p:spPr>
          <a:xfrm>
            <a:off x="10241280" y="55321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NOT_APPLICABLE</a:t>
            </a:r>
            <a:endParaRPr lang="en-US" sz="1100" dirty="0"/>
          </a:p>
        </p:txBody>
      </p:sp>
      <p:sp>
        <p:nvSpPr>
          <p:cNvPr id="28" name="Text 22"/>
          <p:cNvSpPr/>
          <p:nvPr/>
        </p:nvSpPr>
        <p:spPr>
          <a:xfrm>
            <a:off x="12344400" y="553212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required field was missing</a:t>
            </a:r>
            <a:endParaRPr lang="en-US" sz="1050" dirty="0"/>
          </a:p>
        </p:txBody>
      </p:sp>
      <p:sp>
        <p:nvSpPr>
          <p:cNvPr id="29" name="Text 23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Document Intelligence</a:t>
            </a:r>
            <a:endParaRPr lang="en-US" sz="900" dirty="0"/>
          </a:p>
        </p:txBody>
      </p:sp>
      <p:sp>
        <p:nvSpPr>
          <p:cNvPr id="30" name="Text 2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 &amp; Future Improvements</a:t>
            </a:r>
            <a:endParaRPr lang="en-US" sz="3200" dirty="0"/>
          </a:p>
        </p:txBody>
      </p:sp>
      <p:pic>
        <p:nvPicPr>
          <p:cNvPr id="3" name="Image 0" descr="/home/claude/ppt_build/icons/lim_warn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91640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1737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Current Limitations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594360" y="2459736"/>
            <a:ext cx="91440" cy="91440"/>
          </a:xfrm>
          <a:prstGeom prst="ellipse">
            <a:avLst/>
          </a:prstGeom>
          <a:solidFill>
            <a:srgbClr val="D9A44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/>
          <p:nvPr/>
        </p:nvSpPr>
        <p:spPr>
          <a:xfrm>
            <a:off x="868680" y="2425585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accuracy drops on poor-quality or skewed scans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94360" y="3026664"/>
            <a:ext cx="91440" cy="91440"/>
          </a:xfrm>
          <a:prstGeom prst="ellipse">
            <a:avLst/>
          </a:prstGeom>
          <a:solidFill>
            <a:srgbClr val="D9A44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868680" y="2983186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Free-tier LLM API has rate and quota limits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94360" y="3593592"/>
            <a:ext cx="91440" cy="91440"/>
          </a:xfrm>
          <a:prstGeom prst="ellipse">
            <a:avLst/>
          </a:prstGeom>
          <a:solidFill>
            <a:srgbClr val="D9A44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868680" y="3540785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is suitable for a prototype, not high concurrency</a:t>
            </a:r>
            <a:endParaRPr lang="en-US" sz="1300" dirty="0"/>
          </a:p>
        </p:txBody>
      </p:sp>
      <p:pic>
        <p:nvPicPr>
          <p:cNvPr id="11" name="Image 1" descr="/home/claude/ppt_build/icons/lim_rocke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1691640"/>
            <a:ext cx="502920" cy="5029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49440" y="173736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E83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Improvements</a:t>
            </a:r>
            <a:endParaRPr lang="en-US" sz="1800" dirty="0"/>
          </a:p>
        </p:txBody>
      </p:sp>
      <p:sp>
        <p:nvSpPr>
          <p:cNvPr id="13" name="Shape 9"/>
          <p:cNvSpPr/>
          <p:nvPr/>
        </p:nvSpPr>
        <p:spPr>
          <a:xfrm>
            <a:off x="6583680" y="2459736"/>
            <a:ext cx="91440" cy="91440"/>
          </a:xfrm>
          <a:prstGeom prst="ellipse">
            <a:avLst/>
          </a:prstGeom>
          <a:solidFill>
            <a:srgbClr val="0E838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0"/>
          <p:cNvSpPr/>
          <p:nvPr/>
        </p:nvSpPr>
        <p:spPr>
          <a:xfrm>
            <a:off x="6858000" y="2406927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Migrate to PostgreSQL for production-scale concurrency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6583680" y="3026664"/>
            <a:ext cx="91440" cy="91440"/>
          </a:xfrm>
          <a:prstGeom prst="ellipse">
            <a:avLst/>
          </a:prstGeom>
          <a:solidFill>
            <a:srgbClr val="0E838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2"/>
          <p:cNvSpPr/>
          <p:nvPr/>
        </p:nvSpPr>
        <p:spPr>
          <a:xfrm>
            <a:off x="6858000" y="2964526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OCR with pre-processing (deskew, denoise)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6583680" y="3593592"/>
            <a:ext cx="91440" cy="91440"/>
          </a:xfrm>
          <a:prstGeom prst="ellipse">
            <a:avLst/>
          </a:prstGeom>
          <a:solidFill>
            <a:srgbClr val="0E838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4"/>
          <p:cNvSpPr/>
          <p:nvPr/>
        </p:nvSpPr>
        <p:spPr>
          <a:xfrm>
            <a:off x="6858000" y="3550115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authentication &amp; per-user access control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6583680" y="4160520"/>
            <a:ext cx="91440" cy="91440"/>
          </a:xfrm>
          <a:prstGeom prst="ellipse">
            <a:avLst/>
          </a:prstGeom>
          <a:solidFill>
            <a:srgbClr val="0E838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6"/>
          <p:cNvSpPr/>
          <p:nvPr/>
        </p:nvSpPr>
        <p:spPr>
          <a:xfrm>
            <a:off x="6858000" y="4117038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to asynchronous background processing</a:t>
            </a:r>
            <a:endParaRPr lang="en-US" sz="1300" dirty="0"/>
          </a:p>
        </p:txBody>
      </p:sp>
      <p:sp>
        <p:nvSpPr>
          <p:cNvPr id="21" name="Shape 17"/>
          <p:cNvSpPr/>
          <p:nvPr/>
        </p:nvSpPr>
        <p:spPr>
          <a:xfrm>
            <a:off x="6583680" y="4727448"/>
            <a:ext cx="91440" cy="91440"/>
          </a:xfrm>
          <a:prstGeom prst="ellipse">
            <a:avLst/>
          </a:prstGeom>
          <a:solidFill>
            <a:srgbClr val="0E838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18"/>
          <p:cNvSpPr/>
          <p:nvPr/>
        </p:nvSpPr>
        <p:spPr>
          <a:xfrm>
            <a:off x="6858000" y="46746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monitoring, logging dashboards, and alerts</a:t>
            </a:r>
            <a:endParaRPr lang="en-US" sz="1300" dirty="0"/>
          </a:p>
        </p:txBody>
      </p:sp>
      <p:sp>
        <p:nvSpPr>
          <p:cNvPr id="23" name="Shape 19"/>
          <p:cNvSpPr/>
          <p:nvPr/>
        </p:nvSpPr>
        <p:spPr>
          <a:xfrm>
            <a:off x="548640" y="5486400"/>
            <a:ext cx="11091672" cy="0"/>
          </a:xfrm>
          <a:prstGeom prst="line">
            <a:avLst/>
          </a:prstGeom>
          <a:noFill/>
          <a:ln w="12700">
            <a:solidFill>
              <a:srgbClr val="141A4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0"/>
          <p:cNvSpPr/>
          <p:nvPr/>
        </p:nvSpPr>
        <p:spPr>
          <a:xfrm>
            <a:off x="548640" y="56692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 — questions welcome.</a:t>
            </a:r>
            <a:endParaRPr lang="en-US" sz="1800" dirty="0"/>
          </a:p>
        </p:txBody>
      </p:sp>
      <p:sp>
        <p:nvSpPr>
          <p:cNvPr id="25" name="Text 21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EB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Document Intelligence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EB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611</Words>
  <Application>Microsoft Office PowerPoint</Application>
  <PresentationFormat>Widescreen</PresentationFormat>
  <Paragraphs>166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AHAMMED NUJOOM YP</cp:lastModifiedBy>
  <cp:revision>2</cp:revision>
  <dcterms:created xsi:type="dcterms:W3CDTF">2026-09-11T21:02:12Z</dcterms:created>
  <dcterms:modified xsi:type="dcterms:W3CDTF">2026-09-11T21:18:21Z</dcterms:modified>
</cp:coreProperties>
</file>